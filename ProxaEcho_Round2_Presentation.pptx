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71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8272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632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1622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519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0501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9957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528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8785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4257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4788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4585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5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50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4A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"/>
            <a:ext cx="164592" cy="164592"/>
          </a:xfrm>
          <a:prstGeom prst="ellipse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548640"/>
            <a:ext cx="164592" cy="164592"/>
          </a:xfrm>
          <a:prstGeom prst="ellipse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822960"/>
            <a:ext cx="164592" cy="164592"/>
          </a:xfrm>
          <a:prstGeom prst="ellipse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097280"/>
            <a:ext cx="164592" cy="164592"/>
          </a:xfrm>
          <a:prstGeom prst="ellipse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800" dirty="0">
                <a:solidFill>
                  <a:srgbClr val="00C4A0"/>
                </a:solidFill>
              </a:rPr>
              <a:t>PROXA ECHO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Avatar Platform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</a:rPr>
              <a:t>Real-time voice · Live2D avatars · Multi-persona HCP simulation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114800" cy="0"/>
          </a:xfrm>
          <a:prstGeom prst="line">
            <a:avLst/>
          </a:prstGeom>
          <a:noFill/>
          <a:ln w="19050">
            <a:solidFill>
              <a:srgbClr val="00C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CodeWithMay</a:t>
            </a:r>
            <a:r>
              <a:rPr lang="en-US" sz="1300" dirty="0">
                <a:solidFill>
                  <a:srgbClr val="94A3B8"/>
                </a:solidFill>
              </a:rPr>
              <a:t>   |   HackIndia Conversational AI Hackathon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9CDB"/>
                </a:solidFill>
              </a:rPr>
              <a:t>Round 2 — 5 June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4389120"/>
            <a:ext cx="2011680" cy="457200"/>
          </a:xfrm>
          <a:prstGeom prst="rect">
            <a:avLst/>
          </a:prstGeom>
          <a:solidFill>
            <a:srgbClr val="00C4A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389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28"/>
                </a:solidFill>
              </a:rPr>
              <a:t>▶  LIVE DEMO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Proxa Labs Needs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77440" y="1554480"/>
            <a:ext cx="502920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15544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Cost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4632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Prohibitive Token Costs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4632" y="254203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Existing third-party avatar APIs are priced for marketing videos — not enterprise-scale conversational AI. At thousands of reps × daily sessions, costs spiral uncontrollably.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64408" y="132588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3258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50876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21808" y="1554480"/>
            <a:ext cx="50292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272923" y="1549146"/>
            <a:ext cx="60069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Latency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429000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One-Way API Design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29000" y="254203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Current providers were built for video generation, not real-time dialogue. The architecture forces awkward workarounds that introduce unacceptable latency for conversational simulation.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08776" y="132588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08776" y="1325880"/>
            <a:ext cx="2743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50876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66176" y="1554480"/>
            <a:ext cx="502920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266176" y="155448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Risk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373368" y="20299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Dangerous Platform Lock-In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373368" y="2542032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No control over pricing changes, API deprecations, or roadmap direction. A single pricing update from a third-party could shut down the entire Proxa Echo product.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4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Proxa Echo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94A3B8"/>
                </a:solidFill>
              </a:rPr>
              <a:t>An open-source, browser-native conversational AI avatar engine — built for Proxa Labs' exact requirements.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C4A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08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Voice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358444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600ms silence detection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Continuous STT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C4A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3108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Live2D Avatars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87752" y="358444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WebGL rendering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15 emotion states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C4A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514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3108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Streaming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736592" y="358444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Claude · GPT-4 · Ollama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SSE token streaming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00C4A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25146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03720" y="31089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Zero Install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885432" y="3584448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Runs in Chrome &amp; Safari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Docker-ready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End-to-End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783080" cy="128016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40000"/>
                  </a:srgbClr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7099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Voice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21305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Web Speech API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Continuous STT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85416" y="196596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288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1783080" cy="1280160"/>
          </a:xfrm>
          <a:prstGeom prst="rect">
            <a:avLst/>
          </a:prstGeom>
          <a:solidFill>
            <a:srgbClr val="00C4A0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40000"/>
                  </a:srgbClr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24328" y="17099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LLM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24328" y="21305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Claude / GPT-4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SSE Streaming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4256" y="196596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288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783080" cy="1280160"/>
          </a:xfrm>
          <a:prstGeom prst="rect">
            <a:avLst/>
          </a:prstGeom>
          <a:solidFill>
            <a:srgbClr val="F2C94C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40000"/>
                  </a:srgbClr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17099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TTS Pipeline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3168" y="21305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Google Neural2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Sentence chunks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83096" y="196596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2880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1325880"/>
            <a:ext cx="1783080" cy="128016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>
                    <a:alpha val="40000"/>
                  </a:srgbClr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17099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Live2D Avatar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22008" y="21305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Lip sync · Emotion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Expression system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80360"/>
            <a:ext cx="1783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880360"/>
            <a:ext cx="54864" cy="192024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999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Stateless Backend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33756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Every request carries full history. Horizontal scaling with zero config behind any load balancer.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14600" y="2880360"/>
            <a:ext cx="1783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14600" y="2880360"/>
            <a:ext cx="54864" cy="1920240"/>
          </a:xfrm>
          <a:prstGeom prst="rect">
            <a:avLst/>
          </a:prstGeom>
          <a:solidFill>
            <a:srgbClr val="00C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999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SSE Transport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33756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Server-Sent Events stream text tokens and base64 MP3 audio chunks simultaneously to the browser.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1783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880360"/>
            <a:ext cx="54864" cy="1920240"/>
          </a:xfrm>
          <a:prstGeom prst="rect">
            <a:avLst/>
          </a:prstGeom>
          <a:solidFill>
            <a:srgbClr val="F2C9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999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Emotion Tags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33756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LLM prefixes each reply with [EMOTION:X]. Parsed client-side to trigger Live2D expressions instantly.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12280" y="2880360"/>
            <a:ext cx="17830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12280" y="2880360"/>
            <a:ext cx="54864" cy="192024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999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Provider Swap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337560"/>
            <a:ext cx="1600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Change LLM_PROVIDER= in .env. No code changes needed. Supports Ollama, Claude, and GPT-4.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PERSONA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Clinical HCP Personas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Each with distinct voice, personality, clinical focus, and Live2D avatar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011680" cy="822960"/>
          </a:xfrm>
          <a:prstGeom prst="rect">
            <a:avLst/>
          </a:prstGeom>
          <a:solidFill>
            <a:srgbClr val="00C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600200"/>
            <a:ext cx="81663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💊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3192" y="24505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Haru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2779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A0"/>
                </a:solidFill>
              </a:rPr>
              <a:t>Pharmacist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3090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Drug interactions · Bioavailability · Formulary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" y="3913632"/>
            <a:ext cx="685800" cy="201168"/>
          </a:xfrm>
          <a:prstGeom prst="rect">
            <a:avLst/>
          </a:prstGeom>
          <a:solidFill>
            <a:srgbClr val="00C4A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9136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A0"/>
                </a:solidFill>
              </a:rPr>
              <a:t>Analytical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3913632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91363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Neural2-F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96312" y="1554480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96312" y="1554480"/>
            <a:ext cx="2011680" cy="822960"/>
          </a:xfrm>
          <a:prstGeom prst="rect">
            <a:avLst/>
          </a:prstGeom>
          <a:solidFill>
            <a:srgbClr val="2D9CD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9463" y="1600200"/>
            <a:ext cx="82139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569464" y="24505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Izumi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9464" y="2779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DB"/>
                </a:solidFill>
              </a:rPr>
              <a:t>Registered Nurse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9464" y="3090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Patient safety · Dosing · Side-effects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9464" y="3913632"/>
            <a:ext cx="685800" cy="201168"/>
          </a:xfrm>
          <a:prstGeom prst="rect">
            <a:avLst/>
          </a:prstGeom>
          <a:solidFill>
            <a:srgbClr val="2D9CDB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9464" y="39136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9CDB"/>
                </a:solidFill>
              </a:rPr>
              <a:t>Empathetic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19272" y="3913632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391363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Neural2-C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72584" y="1554480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554480"/>
            <a:ext cx="20116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1600200"/>
            <a:ext cx="7980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🥗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745736" y="24505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Emma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45736" y="2779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Dietitian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45736" y="3090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Nutrition interactions · Lifestyle · Metabolism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45736" y="3913632"/>
            <a:ext cx="685800" cy="20116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39136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Curious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95544" y="3913632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391363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Neural2-E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48856" y="1554480"/>
            <a:ext cx="20116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48856" y="1554480"/>
            <a:ext cx="2011680" cy="82296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2007" y="1600199"/>
            <a:ext cx="877927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6922008" y="245059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Dr. Aiko Tanaka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22008" y="2779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33EA"/>
                </a:solidFill>
              </a:rPr>
              <a:t>Psychologist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22008" y="30906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Dependency risk · Cognitive effects · Therapy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22008" y="3913632"/>
            <a:ext cx="685800" cy="201168"/>
          </a:xfrm>
          <a:prstGeom prst="rect">
            <a:avLst/>
          </a:prstGeom>
          <a:solidFill>
            <a:srgbClr val="9333EA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9136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333EA"/>
                </a:solidFill>
              </a:rPr>
              <a:t>Calm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71816" y="3913632"/>
            <a:ext cx="1115568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71816" y="391363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Neural2-H</a:t>
            </a:r>
            <a:endParaRPr lang="en-US" sz="8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EBA0390-A8E5-96E8-F6C0-E2B10B0EC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84" y="1544808"/>
            <a:ext cx="1324051" cy="82753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01EC8D9-11A4-0310-5157-448F1E7101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965"/>
          <a:stretch>
            <a:fillRect/>
          </a:stretch>
        </p:blipFill>
        <p:spPr>
          <a:xfrm>
            <a:off x="768882" y="1472152"/>
            <a:ext cx="2029444" cy="89957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C73D4B-8329-21EB-BE4D-F90D6B27A8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8147"/>
          <a:stretch>
            <a:fillRect/>
          </a:stretch>
        </p:blipFill>
        <p:spPr>
          <a:xfrm>
            <a:off x="3390861" y="1493012"/>
            <a:ext cx="1258362" cy="87934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DB4F59C-3D0D-96F5-1B9F-37D8EC589A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8836"/>
          <a:stretch>
            <a:fillRect/>
          </a:stretch>
        </p:blipFill>
        <p:spPr>
          <a:xfrm>
            <a:off x="7820756" y="1357039"/>
            <a:ext cx="1126998" cy="1022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4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AVATAR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Emotion &amp; Lip Sync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Response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7830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[EMOTION:happy]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Response text...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92024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Tag Parser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87752" y="17830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Regex extracts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emotion label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192024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Live2DManager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17830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.setEmotion()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before full reply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17373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12280" y="1325880"/>
            <a:ext cx="192024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Expression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85432" y="178308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Smile.exp3.json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+ motion group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A0"/>
                </a:solidFill>
              </a:rPr>
              <a:t>15 Supported Emotions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1572768" cy="384048"/>
          </a:xfrm>
          <a:prstGeom prst="rect">
            <a:avLst/>
          </a:prstGeom>
          <a:solidFill>
            <a:srgbClr val="00C4A0">
              <a:alpha val="18000"/>
            </a:srgbClr>
          </a:solidFill>
          <a:ln w="6350">
            <a:solidFill>
              <a:srgbClr val="00C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neutral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84832" y="3108960"/>
            <a:ext cx="1572768" cy="384048"/>
          </a:xfrm>
          <a:prstGeom prst="rect">
            <a:avLst/>
          </a:prstGeom>
          <a:solidFill>
            <a:srgbClr val="2D9CDB">
              <a:alpha val="18000"/>
            </a:srgbClr>
          </a:solidFill>
          <a:ln w="6350">
            <a:solidFill>
              <a:srgbClr val="2D9C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31089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happy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03904" y="3108960"/>
            <a:ext cx="1572768" cy="384048"/>
          </a:xfrm>
          <a:prstGeom prst="rect">
            <a:avLst/>
          </a:prstGeom>
          <a:solidFill>
            <a:srgbClr val="F2C94C">
              <a:alpha val="18000"/>
            </a:srgbClr>
          </a:solidFill>
          <a:ln w="6350">
            <a:solidFill>
              <a:srgbClr val="F2C9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03904" y="31089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522976" y="3108960"/>
            <a:ext cx="1572768" cy="384048"/>
          </a:xfrm>
          <a:prstGeom prst="rect">
            <a:avLst/>
          </a:prstGeom>
          <a:solidFill>
            <a:srgbClr val="9333EA">
              <a:alpha val="18000"/>
            </a:srgbClr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31089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angry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2048" y="3108960"/>
            <a:ext cx="1572768" cy="384048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1089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surprised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1572768" cy="384048"/>
          </a:xfrm>
          <a:prstGeom prst="rect">
            <a:avLst/>
          </a:prstGeom>
          <a:solidFill>
            <a:srgbClr val="00C4A0">
              <a:alpha val="18000"/>
            </a:srgbClr>
          </a:solidFill>
          <a:ln w="6350">
            <a:solidFill>
              <a:srgbClr val="00C4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657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blushing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84832" y="3657600"/>
            <a:ext cx="1572768" cy="384048"/>
          </a:xfrm>
          <a:prstGeom prst="rect">
            <a:avLst/>
          </a:prstGeom>
          <a:solidFill>
            <a:srgbClr val="2D9CDB">
              <a:alpha val="18000"/>
            </a:srgbClr>
          </a:solidFill>
          <a:ln w="6350">
            <a:solidFill>
              <a:srgbClr val="2D9C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3657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curious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03904" y="3657600"/>
            <a:ext cx="1572768" cy="384048"/>
          </a:xfrm>
          <a:prstGeom prst="rect">
            <a:avLst/>
          </a:prstGeom>
          <a:solidFill>
            <a:srgbClr val="F2C94C">
              <a:alpha val="18000"/>
            </a:srgbClr>
          </a:solidFill>
          <a:ln w="6350">
            <a:solidFill>
              <a:srgbClr val="F2C9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3657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thinking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22976" y="3657600"/>
            <a:ext cx="1572768" cy="384048"/>
          </a:xfrm>
          <a:prstGeom prst="rect">
            <a:avLst/>
          </a:prstGeom>
          <a:solidFill>
            <a:srgbClr val="9333EA">
              <a:alpha val="18000"/>
            </a:srgbClr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2976" y="3657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concerned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242048" y="3657600"/>
            <a:ext cx="1572768" cy="384048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42048" y="36576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analytical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1572768" cy="384048"/>
          </a:xfrm>
          <a:prstGeom prst="rect">
            <a:avLst/>
          </a:prstGeom>
          <a:solidFill>
            <a:srgbClr val="00C4A0">
              <a:alpha val="18000"/>
            </a:srgbClr>
          </a:solidFill>
          <a:ln w="6350">
            <a:solidFill>
              <a:srgbClr val="00C4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2062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engaged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084832" y="4206240"/>
            <a:ext cx="1572768" cy="384048"/>
          </a:xfrm>
          <a:prstGeom prst="rect">
            <a:avLst/>
          </a:prstGeom>
          <a:solidFill>
            <a:srgbClr val="2D9CDB">
              <a:alpha val="18000"/>
            </a:srgbClr>
          </a:solidFill>
          <a:ln w="6350">
            <a:solidFill>
              <a:srgbClr val="2D9C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84832" y="42062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calm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03904" y="4206240"/>
            <a:ext cx="1572768" cy="384048"/>
          </a:xfrm>
          <a:prstGeom prst="rect">
            <a:avLst/>
          </a:prstGeom>
          <a:solidFill>
            <a:srgbClr val="F2C94C">
              <a:alpha val="18000"/>
            </a:srgbClr>
          </a:solidFill>
          <a:ln w="6350">
            <a:solidFill>
              <a:srgbClr val="F2C9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03904" y="42062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excited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22976" y="4206240"/>
            <a:ext cx="1572768" cy="384048"/>
          </a:xfrm>
          <a:prstGeom prst="rect">
            <a:avLst/>
          </a:prstGeom>
          <a:solidFill>
            <a:srgbClr val="9333EA">
              <a:alpha val="18000"/>
            </a:srgbClr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22976" y="42062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proud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42048" y="4206240"/>
            <a:ext cx="1572768" cy="384048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2048" y="42062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embarrassed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Lip sync: Web Audio API RMS amplitude → CubismLipSyncUpdater → ParamMouthOpenY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INTEGRATION 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Proxa Labs'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  <a:effectLst>
            <a:outerShdw blurRad="1016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avatar.config.json  — Zero-code persona deploy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"Dr. Priya Sharma",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"Cardiologist",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"specialty": "Interventional",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8712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"traits": "direct, evidence-based",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1821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"dialogueBehavior": "concise",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"ttsVoice": "en-US-Neural2-H",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039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"systemPrompt": "You are..."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32588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74920" y="1280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LLM Provider Swap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15910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Set LLM_PROVIDER=anthropic in .env. Claude, GPT-4, or Ollama — one line, zero code changes.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17720" y="2084832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22199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74920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Stateless Architecture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7492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All conversation state lives client-side. Backend is trivially horizontally scalable behind AWS ALB.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617720" y="2980944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118104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74920" y="30723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Docker + AWS-Ready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74920" y="3383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Docker Compose for local dev. Container-ready for ECS or Cloud Run. No persistent storage needed.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17720" y="3877056"/>
            <a:ext cx="4206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014216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74920" y="3968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React Embed-Ready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074920" y="4279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AvatarCanvas.jsx is a self-contained React component. Drop it into any existing React app.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JUDGING CRITERIA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Score Against the Brief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81328"/>
            <a:ext cx="685800" cy="438912"/>
          </a:xfrm>
          <a:prstGeom prst="rect">
            <a:avLst/>
          </a:prstGeom>
          <a:solidFill>
            <a:srgbClr val="0B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A0"/>
                </a:solidFill>
              </a:rPr>
              <a:t>40%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3898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Conversational Realism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55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Live2D WebGL · 15 emotions · Sentence-chunked TTS · Sub-1s perceived latency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06640" y="1508760"/>
            <a:ext cx="118872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5087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Strong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8412480" cy="80467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14016"/>
            <a:ext cx="685800" cy="438912"/>
          </a:xfrm>
          <a:prstGeom prst="rect">
            <a:avLst/>
          </a:prstGeom>
          <a:solidFill>
            <a:srgbClr val="0B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14016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A0"/>
                </a:solidFill>
              </a:rPr>
              <a:t>30%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3225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Technical Completeness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6883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Voice → STT → LLM → TTS → Avatar full pipeline · Multi-turn (14 turns) · Mobile Chrome + Safari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2441448"/>
            <a:ext cx="1188720" cy="384048"/>
          </a:xfrm>
          <a:prstGeom prst="rect">
            <a:avLst/>
          </a:prstGeom>
          <a:solidFill>
            <a:srgbClr val="2D9CDB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4414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9CDB"/>
                </a:solidFill>
              </a:rPr>
              <a:t>Meets Req.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46704"/>
            <a:ext cx="685800" cy="438912"/>
          </a:xfrm>
          <a:prstGeom prst="rect">
            <a:avLst/>
          </a:prstGeom>
          <a:solidFill>
            <a:srgbClr val="0B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46704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A0"/>
                </a:solidFill>
              </a:rPr>
              <a:t>20%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3255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Integration Quality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621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Stateless API · JSON persona config · Single .env provider swap · Docker Compose · AWS-deployable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3374136"/>
            <a:ext cx="118872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33741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Strong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8412480" cy="804672"/>
          </a:xfrm>
          <a:prstGeom prst="rect">
            <a:avLst/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79392"/>
            <a:ext cx="685800" cy="438912"/>
          </a:xfrm>
          <a:prstGeom prst="rect">
            <a:avLst/>
          </a:prstGeom>
          <a:solidFill>
            <a:srgbClr val="0B162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79392"/>
            <a:ext cx="685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A0"/>
                </a:solidFill>
              </a:rPr>
              <a:t>10%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25880" y="41879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Code Quality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553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README + TECHNICAL.md + Licensing docs · MIT licence · Clean folder structure · .env.example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4306824"/>
            <a:ext cx="1188720" cy="38404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3068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Strong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C4A0"/>
                </a:solidFill>
              </a:rPr>
              <a:t>LIMITATIONS &amp;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Know, What Comes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Known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Amplitude-only lip sync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1956816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Mouth driven by audio RMS, not phonemes. Convincing but not frame-perfect.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596896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614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6883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Firefox / iOS Safari STT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68680" y="298094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webkitSpeechRecognition is Chromium-only. Text input always works as fallback.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621024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78561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7124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Live2D sample model licence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68680" y="40050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Bundled models are under Live2D Free Material Licence — not MIT. Commercial deployment requires purchase or custom models.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0" y="1170432"/>
            <a:ext cx="0" cy="347472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54880" y="1170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Roadmap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754880" y="1572768"/>
            <a:ext cx="548640" cy="347472"/>
          </a:xfrm>
          <a:prstGeom prst="rect">
            <a:avLst/>
          </a:prstGeom>
          <a:solidFill>
            <a:srgbClr val="00C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0" y="15727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28"/>
                </a:solidFill>
              </a:rPr>
              <a:t>Next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40680" y="1545336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Phoneme-accurate lip sync (Rhubarb WASM) · WebRTC audio streaming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59689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54880" y="2596896"/>
            <a:ext cx="548640" cy="347472"/>
          </a:xfrm>
          <a:prstGeom prst="rect">
            <a:avLst/>
          </a:prstGeom>
          <a:solidFill>
            <a:srgbClr val="00C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54880" y="259689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28"/>
                </a:solidFill>
              </a:rPr>
              <a:t>Q3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40680" y="2569464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Azure Cognitive STT fallback for Firefox/iOS · 5+ avatar personas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54880" y="362102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754880" y="3621024"/>
            <a:ext cx="548640" cy="347472"/>
          </a:xfrm>
          <a:prstGeom prst="rect">
            <a:avLst/>
          </a:prstGeom>
          <a:solidFill>
            <a:srgbClr val="00C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754880" y="36210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628"/>
                </a:solidFill>
              </a:rPr>
              <a:t>Q4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440680" y="3593592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SCORM / LMS integration · Session recording &amp; playback · Analytics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4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800" dirty="0">
                <a:solidFill>
                  <a:srgbClr val="00C4A0"/>
                </a:solidFill>
              </a:rPr>
              <a:t>PROXA ECHO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Meets the Clinic.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Open-source · MIT licence · Docker-ready · Claude/GPT-4/Ollama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2194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0C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4A0"/>
                </a:solidFill>
              </a:rPr>
              <a:t>&lt; 1s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Perceived latency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880360"/>
            <a:ext cx="2194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0C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971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4A0"/>
                </a:solidFill>
              </a:rPr>
              <a:t>15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92608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Emotion states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880360"/>
            <a:ext cx="2194560" cy="118872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0C4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9718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4A0"/>
                </a:solidFill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94960" y="3566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HCP personas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Team CodeWithMay  ·  HackIndia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dirty="0">
                <a:solidFill>
                  <a:srgbClr val="00C4A0"/>
                </a:solidFill>
              </a:rPr>
              <a:t>https://github.com/HackIndiaXYZ/conversation-ai-hackathon-2026-codewithmay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</TotalTime>
  <Words>867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Proxa Echo — Conversational AI Avatar Platform</dc:title>
  <dc:subject>PptxGenJS Presentation</dc:subject>
  <dc:creator>Team CodeWithMay</dc:creator>
  <cp:lastModifiedBy>mayank sinha</cp:lastModifiedBy>
  <cp:revision>4</cp:revision>
  <dcterms:created xsi:type="dcterms:W3CDTF">2026-06-01T08:17:44Z</dcterms:created>
  <dcterms:modified xsi:type="dcterms:W3CDTF">2026-06-04T06:05:39Z</dcterms:modified>
</cp:coreProperties>
</file>